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01000" y="0"/>
            <a:ext cx="4187952" cy="6858000"/>
          </a:xfrm>
          <a:prstGeom prst="rect">
            <a:avLst/>
          </a:prstGeom>
          <a:solidFill>
            <a:srgbClr val="0C121C"/>
          </a:solidFill>
          <a:ln w="10160">
            <a:solidFill>
              <a:srgbClr val="0C1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321040" y="914400"/>
            <a:ext cx="100584" cy="4846320"/>
          </a:xfrm>
          <a:prstGeom prst="rect">
            <a:avLst/>
          </a:prstGeom>
          <a:solidFill>
            <a:srgbClr val="45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705088" y="1170432"/>
            <a:ext cx="100584" cy="4526280"/>
          </a:xfrm>
          <a:prstGeom prst="rect">
            <a:avLst/>
          </a:prstGeom>
          <a:solidFill>
            <a:srgbClr val="7F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089136" y="1426464"/>
            <a:ext cx="100584" cy="4206240"/>
          </a:xfrm>
          <a:prstGeom prst="rect">
            <a:avLst/>
          </a:prstGeom>
          <a:solidFill>
            <a:srgbClr val="45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473184" y="1682496"/>
            <a:ext cx="100584" cy="3886200"/>
          </a:xfrm>
          <a:prstGeom prst="rect">
            <a:avLst/>
          </a:prstGeom>
          <a:solidFill>
            <a:srgbClr val="7F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857232" y="1938528"/>
            <a:ext cx="100584" cy="3566160"/>
          </a:xfrm>
          <a:prstGeom prst="rect">
            <a:avLst/>
          </a:prstGeom>
          <a:solidFill>
            <a:srgbClr val="45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241280" y="2194560"/>
            <a:ext cx="100584" cy="3246120"/>
          </a:xfrm>
          <a:prstGeom prst="rect">
            <a:avLst/>
          </a:prstGeom>
          <a:solidFill>
            <a:srgbClr val="7F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625328" y="2450592"/>
            <a:ext cx="100584" cy="2926080"/>
          </a:xfrm>
          <a:prstGeom prst="rect">
            <a:avLst/>
          </a:prstGeom>
          <a:solidFill>
            <a:srgbClr val="45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65836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5AAFF"/>
                </a:solidFill>
                <a:latin typeface="Aptos"/>
              </a:rPr>
              <a:t>PD06  •  PORTFOLIO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234440"/>
            <a:ext cx="67665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700" b="1">
                <a:solidFill>
                  <a:srgbClr val="F5F7FA"/>
                </a:solidFill>
                <a:latin typeface="Aptos"/>
              </a:rPr>
              <a:t>Target Dataset</a:t>
            </a:r>
            <a:br/>
            <a:r>
              <a:rPr sz="3700" b="1">
                <a:solidFill>
                  <a:srgbClr val="F5F7FA"/>
                </a:solidFill>
              </a:rPr>
              <a:t>Exploration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761488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0">
                <a:solidFill>
                  <a:srgbClr val="F5F7FA"/>
                </a:solidFill>
                <a:latin typeface="Aptos"/>
              </a:rPr>
              <a:t>An SQL and Python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401568"/>
            <a:ext cx="6309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3ACBC"/>
                </a:solidFill>
                <a:latin typeface="Aptos"/>
              </a:rPr>
              <a:t>“Navigating the Future of Online Shopping”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230368"/>
            <a:ext cx="4572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Aptos"/>
              </a:rPr>
              <a:t>Suryansh Sinha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669280"/>
            <a:ext cx="6583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3ACBC"/>
                </a:solidFill>
                <a:latin typeface="Aptos"/>
              </a:rPr>
              <a:t>SQL  •  Pandas  •  Matplotlib  •  Google Colab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3ACBC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3ACBC"/>
                </a:solidFill>
                <a:latin typeface="Aptos"/>
              </a:rPr>
              <a:t>PD06  •  Python + SQL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AAFF"/>
                </a:solidFill>
                <a:latin typeface="Aptos"/>
              </a:rPr>
              <a:t>01  • 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60120" cy="41148"/>
          </a:xfrm>
          <a:prstGeom prst="rect">
            <a:avLst/>
          </a:prstGeom>
          <a:solidFill>
            <a:srgbClr val="45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3657600" cy="4343400"/>
          </a:xfrm>
          <a:prstGeom prst="roundRect">
            <a:avLst>
              <a:gd name="adj" fmla="val 8000"/>
            </a:avLst>
          </a:prstGeom>
          <a:solidFill>
            <a:srgbClr val="12161F"/>
          </a:solidFill>
          <a:ln w="10160">
            <a:solidFill>
              <a:srgbClr val="2D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Aptos"/>
              </a:rPr>
              <a:t>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2971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A3ACBC"/>
                </a:solidFill>
                <a:latin typeface="Aptos"/>
              </a:rPr>
              <a:t>Analyze and visualize business metrics using SQL and Python.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290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Aptos"/>
              </a:rPr>
              <a:t>Analysis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86200"/>
            <a:ext cx="2743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3ACBC"/>
                </a:solidFill>
                <a:latin typeface="Aptos"/>
              </a:rPr>
              <a:t>• Basic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15968"/>
            <a:ext cx="2743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3ACBC"/>
                </a:solidFill>
                <a:latin typeface="Aptos"/>
              </a:rPr>
              <a:t>• Intermediate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745736"/>
            <a:ext cx="2743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3ACBC"/>
                </a:solidFill>
                <a:latin typeface="Aptos"/>
              </a:rPr>
              <a:t>• Advanced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600200"/>
            <a:ext cx="7068312" cy="4343400"/>
          </a:xfrm>
          <a:prstGeom prst="roundRect">
            <a:avLst>
              <a:gd name="adj" fmla="val 8000"/>
            </a:avLst>
          </a:prstGeom>
          <a:solidFill>
            <a:srgbClr val="12161F"/>
          </a:solidFill>
          <a:ln w="10160">
            <a:solidFill>
              <a:srgbClr val="2D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0" y="1874519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Aptos"/>
              </a:rPr>
              <a:t>Workflow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2560320"/>
            <a:ext cx="1417320" cy="1051560"/>
          </a:xfrm>
          <a:prstGeom prst="roundRect">
            <a:avLst>
              <a:gd name="adj" fmla="val 8000"/>
            </a:avLst>
          </a:prstGeom>
          <a:solidFill>
            <a:srgbClr val="181D28"/>
          </a:solidFill>
          <a:ln w="10160">
            <a:solidFill>
              <a:srgbClr val="2D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56048" y="2761488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5AAFF"/>
                </a:solidFill>
                <a:latin typeface="Aptos"/>
              </a:rPr>
              <a:t>DATASETS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310896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3ACBC"/>
                </a:solidFill>
                <a:latin typeface="Aptos"/>
              </a:rPr>
              <a:t>7 source 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2852928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3ACBC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10528" y="2560320"/>
            <a:ext cx="1417320" cy="1051560"/>
          </a:xfrm>
          <a:prstGeom prst="roundRect">
            <a:avLst>
              <a:gd name="adj" fmla="val 8000"/>
            </a:avLst>
          </a:prstGeom>
          <a:solidFill>
            <a:srgbClr val="181D28"/>
          </a:solidFill>
          <a:ln w="10160">
            <a:solidFill>
              <a:srgbClr val="2D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20256" y="2761488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5AAFF"/>
                </a:solidFill>
                <a:latin typeface="Aptos"/>
              </a:rPr>
              <a:t>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0256" y="310896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3ACBC"/>
                </a:solidFill>
                <a:latin typeface="Aptos"/>
              </a:rPr>
              <a:t>15 problems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6136" y="2852928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3ACBC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74736" y="2560320"/>
            <a:ext cx="1417320" cy="1051560"/>
          </a:xfrm>
          <a:prstGeom prst="roundRect">
            <a:avLst>
              <a:gd name="adj" fmla="val 8000"/>
            </a:avLst>
          </a:prstGeom>
          <a:solidFill>
            <a:srgbClr val="181D28"/>
          </a:solidFill>
          <a:ln w="10160">
            <a:solidFill>
              <a:srgbClr val="2D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84463" y="2761488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5AAFF"/>
                </a:solidFill>
                <a:latin typeface="Aptos"/>
              </a:rPr>
              <a:t>PYTHON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3" y="310896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3ACBC"/>
                </a:solidFill>
                <a:latin typeface="Aptos"/>
              </a:rPr>
              <a:t>Pandas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0344" y="2852928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3ACBC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38944" y="2560320"/>
            <a:ext cx="1417320" cy="1051560"/>
          </a:xfrm>
          <a:prstGeom prst="roundRect">
            <a:avLst>
              <a:gd name="adj" fmla="val 8000"/>
            </a:avLst>
          </a:prstGeom>
          <a:solidFill>
            <a:srgbClr val="181D28"/>
          </a:solidFill>
          <a:ln w="10160">
            <a:solidFill>
              <a:srgbClr val="2D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48672" y="2761488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5AAFF"/>
                </a:solidFill>
                <a:latin typeface="Aptos"/>
              </a:rPr>
              <a:t>VISUALS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8672" y="310896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3ACBC"/>
                </a:solidFill>
                <a:latin typeface="Aptos"/>
              </a:rPr>
              <a:t>Matplotlib charts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0690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Aptos"/>
              </a:rPr>
              <a:t>Deliverables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4526280"/>
            <a:ext cx="5852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3ACBC"/>
                </a:solidFill>
                <a:latin typeface="Aptos"/>
              </a:rPr>
              <a:t>• SQL file with all three query levels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4956048"/>
            <a:ext cx="5852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3ACBC"/>
                </a:solidFill>
                <a:latin typeface="Aptos"/>
              </a:rPr>
              <a:t>• Colab notebook with Python visualizations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5385816"/>
            <a:ext cx="5852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3ACBC"/>
                </a:solidFill>
                <a:latin typeface="Aptos"/>
              </a:rPr>
              <a:t>• Presentation summarizing project insights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3ACBC"/>
                </a:solidFill>
                <a:latin typeface="Aptos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73952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3ACBC"/>
                </a:solidFill>
                <a:latin typeface="Aptos"/>
              </a:rPr>
              <a:t>PD06  •  Python + SQL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AAFF"/>
                </a:solidFill>
                <a:latin typeface="Aptos"/>
              </a:rPr>
              <a:t>02  • 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Dataset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60120" cy="41148"/>
          </a:xfrm>
          <a:prstGeom prst="rect">
            <a:avLst/>
          </a:prstGeom>
          <a:solidFill>
            <a:srgbClr val="45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2542032" cy="1417320"/>
          </a:xfrm>
          <a:prstGeom prst="roundRect">
            <a:avLst>
              <a:gd name="adj" fmla="val 8000"/>
            </a:avLst>
          </a:prstGeom>
          <a:solidFill>
            <a:srgbClr val="12161F"/>
          </a:solidFill>
          <a:ln w="10160">
            <a:solidFill>
              <a:srgbClr val="2D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92024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3ACBC"/>
                </a:solidFill>
                <a:latin typeface="Aptos"/>
              </a:rPr>
              <a:t>Customers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350008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5F7FA"/>
                </a:solidFill>
                <a:latin typeface="Aptos"/>
              </a:rPr>
              <a:t>99,441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0712" y="1691640"/>
            <a:ext cx="2542032" cy="1417320"/>
          </a:xfrm>
          <a:prstGeom prst="roundRect">
            <a:avLst>
              <a:gd name="adj" fmla="val 8000"/>
            </a:avLst>
          </a:prstGeom>
          <a:solidFill>
            <a:srgbClr val="12161F"/>
          </a:solidFill>
          <a:ln w="10160">
            <a:solidFill>
              <a:srgbClr val="2D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11880" y="192024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3ACBC"/>
                </a:solidFill>
                <a:latin typeface="Aptos"/>
              </a:rPr>
              <a:t>Orders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350008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5F7FA"/>
                </a:solidFill>
                <a:latin typeface="Aptos"/>
              </a:rPr>
              <a:t>99,441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1691640"/>
            <a:ext cx="2542032" cy="1417320"/>
          </a:xfrm>
          <a:prstGeom prst="roundRect">
            <a:avLst>
              <a:gd name="adj" fmla="val 8000"/>
            </a:avLst>
          </a:prstGeom>
          <a:solidFill>
            <a:srgbClr val="12161F"/>
          </a:solidFill>
          <a:ln w="10160">
            <a:solidFill>
              <a:srgbClr val="2D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92024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3ACBC"/>
                </a:solidFill>
                <a:latin typeface="Aptos"/>
              </a:rPr>
              <a:t>Order Items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350008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5F7FA"/>
                </a:solidFill>
                <a:latin typeface="Aptos"/>
              </a:rPr>
              <a:t>112,650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43416" y="1691640"/>
            <a:ext cx="2542032" cy="1417320"/>
          </a:xfrm>
          <a:prstGeom prst="roundRect">
            <a:avLst>
              <a:gd name="adj" fmla="val 8000"/>
            </a:avLst>
          </a:prstGeom>
          <a:solidFill>
            <a:srgbClr val="12161F"/>
          </a:solidFill>
          <a:ln w="10160">
            <a:solidFill>
              <a:srgbClr val="2D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44584" y="192024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3ACBC"/>
                </a:solidFill>
                <a:latin typeface="Aptos"/>
              </a:rPr>
              <a:t>Payments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44584" y="2350008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5F7FA"/>
                </a:solidFill>
                <a:latin typeface="Aptos"/>
              </a:rPr>
              <a:t>103,886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566160"/>
            <a:ext cx="2542032" cy="1417320"/>
          </a:xfrm>
          <a:prstGeom prst="roundRect">
            <a:avLst>
              <a:gd name="adj" fmla="val 8000"/>
            </a:avLst>
          </a:prstGeom>
          <a:solidFill>
            <a:srgbClr val="12161F"/>
          </a:solidFill>
          <a:ln w="10160">
            <a:solidFill>
              <a:srgbClr val="2D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" y="379476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3ACBC"/>
                </a:solidFill>
                <a:latin typeface="Aptos"/>
              </a:rPr>
              <a:t>Products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4224528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5F7FA"/>
                </a:solidFill>
                <a:latin typeface="Aptos"/>
              </a:rPr>
              <a:t>32,951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10712" y="3566160"/>
            <a:ext cx="2542032" cy="1417320"/>
          </a:xfrm>
          <a:prstGeom prst="roundRect">
            <a:avLst>
              <a:gd name="adj" fmla="val 8000"/>
            </a:avLst>
          </a:prstGeom>
          <a:solidFill>
            <a:srgbClr val="12161F"/>
          </a:solidFill>
          <a:ln w="10160">
            <a:solidFill>
              <a:srgbClr val="2D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11880" y="379476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3ACBC"/>
                </a:solidFill>
                <a:latin typeface="Aptos"/>
              </a:rPr>
              <a:t>Sellers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4224528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5F7FA"/>
                </a:solidFill>
                <a:latin typeface="Aptos"/>
              </a:rPr>
              <a:t>3,095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3566160"/>
            <a:ext cx="2542032" cy="1417320"/>
          </a:xfrm>
          <a:prstGeom prst="roundRect">
            <a:avLst>
              <a:gd name="adj" fmla="val 8000"/>
            </a:avLst>
          </a:prstGeom>
          <a:solidFill>
            <a:srgbClr val="12161F"/>
          </a:solidFill>
          <a:ln w="10160">
            <a:solidFill>
              <a:srgbClr val="2D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2" y="379476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3ACBC"/>
                </a:solidFill>
                <a:latin typeface="Aptos"/>
              </a:rPr>
              <a:t>Geolocation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4224528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5F7FA"/>
                </a:solidFill>
                <a:latin typeface="Aptos"/>
              </a:rPr>
              <a:t>1,000,163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8978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3ACBC"/>
                </a:solidFill>
                <a:latin typeface="Aptos"/>
              </a:rPr>
              <a:t>7 source datasets  •  customer, order, product, payment, seller and geolocation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3ACBC"/>
                </a:solidFill>
                <a:latin typeface="Apto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3ACBC"/>
                </a:solidFill>
                <a:latin typeface="Aptos"/>
              </a:rPr>
              <a:t>PD06  •  Python + SQL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AAFF"/>
                </a:solidFill>
                <a:latin typeface="Aptos"/>
              </a:rPr>
              <a:t>03  • 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Basic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60120" cy="41148"/>
          </a:xfrm>
          <a:prstGeom prst="rect">
            <a:avLst/>
          </a:prstGeom>
          <a:solidFill>
            <a:srgbClr val="45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9496" y="1545336"/>
            <a:ext cx="2807208" cy="2665960"/>
          </a:xfrm>
          <a:prstGeom prst="roundRect">
            <a:avLst>
              <a:gd name="adj" fmla="val 8000"/>
            </a:avLst>
          </a:prstGeom>
          <a:solidFill>
            <a:srgbClr val="181D28"/>
          </a:solidFill>
          <a:ln w="10160">
            <a:solidFill>
              <a:srgbClr val="2D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4266160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Aptos"/>
              </a:rPr>
              <a:t>45,101 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604488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A3ACBC"/>
                </a:solidFill>
                <a:latin typeface="Aptos"/>
              </a:rPr>
              <a:t>placed in 2017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38144" y="1545336"/>
            <a:ext cx="2807208" cy="2665960"/>
          </a:xfrm>
          <a:prstGeom prst="roundRect">
            <a:avLst>
              <a:gd name="adj" fmla="val 8000"/>
            </a:avLst>
          </a:prstGeom>
          <a:solidFill>
            <a:srgbClr val="181D28"/>
          </a:solidFill>
          <a:ln w="10160">
            <a:solidFill>
              <a:srgbClr val="2D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03320" y="426616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Health &amp; Beauty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4604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A3ACBC"/>
                </a:solidFill>
                <a:latin typeface="Aptos"/>
              </a:rPr>
              <a:t>₹1.26M top category sales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6792" y="1545336"/>
            <a:ext cx="2807208" cy="2665960"/>
          </a:xfrm>
          <a:prstGeom prst="roundRect">
            <a:avLst>
              <a:gd name="adj" fmla="val 8000"/>
            </a:avLst>
          </a:prstGeom>
          <a:solidFill>
            <a:srgbClr val="181D28"/>
          </a:solidFill>
          <a:ln w="10160">
            <a:solidFill>
              <a:srgbClr val="2D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426616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Aptos"/>
              </a:rPr>
              <a:t>51.46%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604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A3ACBC"/>
                </a:solidFill>
                <a:latin typeface="Aptos"/>
              </a:rPr>
              <a:t>orders paid in installments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545336"/>
            <a:ext cx="2414016" cy="1200986"/>
          </a:xfrm>
          <a:prstGeom prst="roundRect">
            <a:avLst>
              <a:gd name="adj" fmla="val 8000"/>
            </a:avLst>
          </a:prstGeom>
          <a:solidFill>
            <a:srgbClr val="181D28"/>
          </a:solidFill>
          <a:ln w="10160">
            <a:solidFill>
              <a:srgbClr val="2D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72600" y="2801186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41,746 customers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139514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3ACBC"/>
                </a:solidFill>
                <a:latin typeface="Aptos"/>
              </a:rPr>
              <a:t>in SP — largest state count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162273"/>
            <a:ext cx="11000232" cy="1031679"/>
          </a:xfrm>
          <a:prstGeom prst="roundRect">
            <a:avLst>
              <a:gd name="adj" fmla="val 8000"/>
            </a:avLst>
          </a:prstGeom>
          <a:solidFill>
            <a:srgbClr val="12161F"/>
          </a:solidFill>
          <a:ln w="10160">
            <a:solidFill>
              <a:srgbClr val="2D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5418305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5AAFF"/>
                </a:solidFill>
                <a:latin typeface="Aptos"/>
              </a:rPr>
              <a:t>Basic-level result 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290289"/>
            <a:ext cx="83667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>
                <a:solidFill>
                  <a:srgbClr val="A3ACBC"/>
                </a:solidFill>
              </a:rPr>
              <a:t>2017 recorded 45,101 orders. Health &amp; Beauty generated the highest category sales at ₹1.26M. 51.46% of orders used installments, while SP accounted for 41,746 customers — the largest state count.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3ACBC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3ACBC"/>
                </a:solidFill>
                <a:latin typeface="Aptos"/>
              </a:rPr>
              <a:t>PD06  •  Python + SQL Analysis</a:t>
            </a:r>
          </a:p>
        </p:txBody>
      </p:sp>
      <p:pic>
        <p:nvPicPr>
          <p:cNvPr id="26" name="Picture 2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00200"/>
            <a:ext cx="2697480" cy="2556232"/>
          </a:xfrm>
          <a:prstGeom prst="rect">
            <a:avLst/>
          </a:prstGeom>
        </p:spPr>
      </p:pic>
      <p:pic>
        <p:nvPicPr>
          <p:cNvPr id="27" name="Picture 26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1600200"/>
            <a:ext cx="2697480" cy="2556232"/>
          </a:xfrm>
          <a:prstGeom prst="rect">
            <a:avLst/>
          </a:prstGeom>
        </p:spPr>
      </p:pic>
      <p:pic>
        <p:nvPicPr>
          <p:cNvPr id="28" name="Picture 27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6" y="1600200"/>
            <a:ext cx="2697480" cy="2556232"/>
          </a:xfrm>
          <a:prstGeom prst="rect">
            <a:avLst/>
          </a:prstGeom>
        </p:spPr>
      </p:pic>
      <p:pic>
        <p:nvPicPr>
          <p:cNvPr id="29" name="Picture 28" descr="imag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0304" y="1600200"/>
            <a:ext cx="2304288" cy="109125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372600" y="3479554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B7488"/>
                </a:solidFill>
                <a:latin typeface="Aptos"/>
              </a:rPr>
              <a:t>+15 more states — 6,499 customers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AAFF"/>
                </a:solidFill>
                <a:latin typeface="Aptos"/>
              </a:rPr>
              <a:t>04  •  INTERMEDIATE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Order &amp; Revenue Trends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60120" cy="41148"/>
          </a:xfrm>
          <a:prstGeom prst="rect">
            <a:avLst/>
          </a:prstGeom>
          <a:solidFill>
            <a:srgbClr val="45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9496" y="1517904"/>
            <a:ext cx="5458968" cy="2990088"/>
          </a:xfrm>
          <a:prstGeom prst="roundRect">
            <a:avLst>
              <a:gd name="adj" fmla="val 8000"/>
            </a:avLst>
          </a:prstGeom>
          <a:solidFill>
            <a:srgbClr val="181D28"/>
          </a:solidFill>
          <a:ln w="10160">
            <a:solidFill>
              <a:srgbClr val="2D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81344" y="1517904"/>
            <a:ext cx="5468112" cy="2990088"/>
          </a:xfrm>
          <a:prstGeom prst="roundRect">
            <a:avLst>
              <a:gd name="adj" fmla="val 8000"/>
            </a:avLst>
          </a:prstGeom>
          <a:solidFill>
            <a:srgbClr val="181D28"/>
          </a:solidFill>
          <a:ln w="10160">
            <a:solidFill>
              <a:srgbClr val="2D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4709160"/>
            <a:ext cx="11000232" cy="1051560"/>
          </a:xfrm>
          <a:prstGeom prst="roundRect">
            <a:avLst>
              <a:gd name="adj" fmla="val 8000"/>
            </a:avLst>
          </a:prstGeom>
          <a:solidFill>
            <a:srgbClr val="12161F"/>
          </a:solidFill>
          <a:ln w="10160">
            <a:solidFill>
              <a:srgbClr val="2D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93776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5AAFF"/>
                </a:solidFill>
                <a:latin typeface="Aptos"/>
              </a:rPr>
              <a:t>2018 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4800600"/>
            <a:ext cx="43891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>
                <a:solidFill>
                  <a:srgbClr val="A3ACBC"/>
                </a:solidFill>
              </a:rPr>
              <a:t>2018 order volume peaked in January at 7,269. September and October show only 16 and 4 orders respectively, creating a sharp drop at the end of the recorded 2018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493776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5AAFF"/>
                </a:solidFill>
                <a:latin typeface="Aptos"/>
              </a:rPr>
              <a:t>Category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4800600"/>
            <a:ext cx="31089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>
                <a:solidFill>
                  <a:srgbClr val="A3ACBC"/>
                </a:solidFill>
              </a:rPr>
              <a:t>Health &amp; Beauty contributed 9.38% of total category revenue, the highest share in the result set.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3ACBC"/>
                </a:solidFill>
                <a:latin typeface="Aptos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3ACBC"/>
                </a:solidFill>
                <a:latin typeface="Aptos"/>
              </a:rPr>
              <a:t>PD06  •  Python + SQL Analysis</a:t>
            </a:r>
          </a:p>
        </p:txBody>
      </p:sp>
      <p:pic>
        <p:nvPicPr>
          <p:cNvPr id="16" name="Picture 15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72768"/>
            <a:ext cx="5349240" cy="2880360"/>
          </a:xfrm>
          <a:prstGeom prst="rect">
            <a:avLst/>
          </a:prstGeom>
        </p:spPr>
      </p:pic>
      <p:pic>
        <p:nvPicPr>
          <p:cNvPr id="17" name="Picture 16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572768"/>
            <a:ext cx="5358384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AAFF"/>
                </a:solidFill>
                <a:latin typeface="Aptos"/>
              </a:rPr>
              <a:t>05  •  INTERMEDIATE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Product &amp; Seller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60120" cy="41148"/>
          </a:xfrm>
          <a:prstGeom prst="rect">
            <a:avLst/>
          </a:prstGeom>
          <a:solidFill>
            <a:srgbClr val="45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9496" y="1572768"/>
            <a:ext cx="5458968" cy="3355848"/>
          </a:xfrm>
          <a:prstGeom prst="roundRect">
            <a:avLst>
              <a:gd name="adj" fmla="val 8000"/>
            </a:avLst>
          </a:prstGeom>
          <a:solidFill>
            <a:srgbClr val="181D28"/>
          </a:solidFill>
          <a:ln w="10160">
            <a:solidFill>
              <a:srgbClr val="2D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81344" y="1572768"/>
            <a:ext cx="5468112" cy="3355848"/>
          </a:xfrm>
          <a:prstGeom prst="roundRect">
            <a:avLst>
              <a:gd name="adj" fmla="val 8000"/>
            </a:avLst>
          </a:prstGeom>
          <a:solidFill>
            <a:srgbClr val="181D28"/>
          </a:solidFill>
          <a:ln w="10160">
            <a:solidFill>
              <a:srgbClr val="2D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5166360"/>
            <a:ext cx="11000232" cy="658368"/>
          </a:xfrm>
          <a:prstGeom prst="roundRect">
            <a:avLst>
              <a:gd name="adj" fmla="val 8000"/>
            </a:avLst>
          </a:prstGeom>
          <a:solidFill>
            <a:srgbClr val="12161F"/>
          </a:solidFill>
          <a:ln w="10160">
            <a:solidFill>
              <a:srgbClr val="2D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285232"/>
            <a:ext cx="4937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5F7FA"/>
                </a:solidFill>
              </a:rPr>
              <a:t>Price vs purchase frequency correlation:  −0.0321</a:t>
            </a:r>
          </a:p>
          <a:p>
            <a:pPr>
              <a:spcBef>
                <a:spcPts val="0"/>
              </a:spcBef>
            </a:pPr>
            <a:r>
              <a:rPr sz="1080">
                <a:solidFill>
                  <a:srgbClr val="A3ACBC"/>
                </a:solidFill>
              </a:rPr>
              <a:t>This is a very weak negative relationship in the calculated product-level result.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285232"/>
            <a:ext cx="45720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50" b="1">
                <a:solidFill>
                  <a:srgbClr val="F5F7FA"/>
                </a:solidFill>
              </a:rPr>
              <a:t>Top seller revenue:  ₹229,472.63</a:t>
            </a:r>
          </a:p>
          <a:p>
            <a:pPr>
              <a:spcBef>
                <a:spcPts val="0"/>
              </a:spcBef>
            </a:pPr>
            <a:r>
              <a:rPr sz="1080">
                <a:solidFill>
                  <a:srgbClr val="A3ACBC"/>
                </a:solidFill>
              </a:rPr>
              <a:t>This is the highest seller revenue in the ranked seller result.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3ACBC"/>
                </a:solidFill>
                <a:latin typeface="Aptos"/>
              </a:rPr>
              <a:t>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3ACBC"/>
                </a:solidFill>
                <a:latin typeface="Aptos"/>
              </a:rPr>
              <a:t>PD06  •  Python + SQL Analysis</a:t>
            </a:r>
          </a:p>
        </p:txBody>
      </p:sp>
      <p:pic>
        <p:nvPicPr>
          <p:cNvPr id="14" name="Picture 13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27632"/>
            <a:ext cx="5349240" cy="3246120"/>
          </a:xfrm>
          <a:prstGeom prst="rect">
            <a:avLst/>
          </a:prstGeom>
        </p:spPr>
      </p:pic>
      <p:pic>
        <p:nvPicPr>
          <p:cNvPr id="15" name="Picture 14" descr="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627632"/>
            <a:ext cx="5358384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AAFF"/>
                </a:solidFill>
                <a:latin typeface="Aptos"/>
              </a:rPr>
              <a:t>06  • 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Customer Behaviour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60120" cy="41148"/>
          </a:xfrm>
          <a:prstGeom prst="rect">
            <a:avLst/>
          </a:prstGeom>
          <a:solidFill>
            <a:srgbClr val="45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9496" y="1517904"/>
            <a:ext cx="6922008" cy="4270248"/>
          </a:xfrm>
          <a:prstGeom prst="roundRect">
            <a:avLst>
              <a:gd name="adj" fmla="val 8000"/>
            </a:avLst>
          </a:prstGeom>
          <a:solidFill>
            <a:srgbClr val="181D28"/>
          </a:solidFill>
          <a:ln w="10160">
            <a:solidFill>
              <a:srgbClr val="2D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662672" y="1572768"/>
            <a:ext cx="3931920" cy="4160520"/>
          </a:xfrm>
          <a:prstGeom prst="roundRect">
            <a:avLst>
              <a:gd name="adj" fmla="val 8000"/>
            </a:avLst>
          </a:prstGeom>
          <a:solidFill>
            <a:srgbClr val="12161F"/>
          </a:solidFill>
          <a:ln w="10160">
            <a:solidFill>
              <a:srgbClr val="2D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01000" y="1901952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Aptos"/>
              </a:rPr>
              <a:t>6-Month Retention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46136" y="2414016"/>
            <a:ext cx="3355848" cy="2532888"/>
          </a:xfrm>
          <a:prstGeom prst="roundRect">
            <a:avLst>
              <a:gd name="adj" fmla="val 8000"/>
            </a:avLst>
          </a:prstGeom>
          <a:solidFill>
            <a:srgbClr val="181D28"/>
          </a:solidFill>
          <a:ln w="10160">
            <a:solidFill>
              <a:srgbClr val="2D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5047487"/>
            <a:ext cx="27432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dirty="0">
                <a:solidFill>
                  <a:srgbClr val="F5F7FA"/>
                </a:solidFill>
                <a:latin typeface="Aptos"/>
              </a:rPr>
              <a:t>2.32%</a:t>
            </a:r>
          </a:p>
          <a:p>
            <a:pPr>
              <a:spcBef>
                <a:spcPts val="0"/>
              </a:spcBef>
            </a:pPr>
            <a:r>
              <a:rPr sz="1050" dirty="0">
                <a:solidFill>
                  <a:srgbClr val="A3ACBC"/>
                </a:solidFill>
              </a:rPr>
              <a:t>of customers made another purchase within 6 months of their first purchase.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913768"/>
            <a:ext cx="6675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dirty="0">
                <a:solidFill>
                  <a:srgbClr val="A3ACBC"/>
                </a:solidFill>
              </a:rPr>
              <a:t>The selected customer had 16 orders, allowing the 2-record moving average to show short-term changes in order value.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3ACBC"/>
                </a:solidFill>
                <a:latin typeface="Aptos"/>
              </a:rPr>
              <a:t>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3ACBC"/>
                </a:solidFill>
                <a:latin typeface="Aptos"/>
              </a:rPr>
              <a:t>PD06  •  Python + SQL Analysis</a:t>
            </a:r>
          </a:p>
        </p:txBody>
      </p:sp>
      <p:pic>
        <p:nvPicPr>
          <p:cNvPr id="16" name="Picture 15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90440"/>
            <a:ext cx="6812280" cy="4160520"/>
          </a:xfrm>
          <a:prstGeom prst="rect">
            <a:avLst/>
          </a:prstGeom>
        </p:spPr>
      </p:pic>
      <p:pic>
        <p:nvPicPr>
          <p:cNvPr id="17" name="Picture 16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2468880"/>
            <a:ext cx="3246120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AAFF"/>
                </a:solidFill>
                <a:latin typeface="Aptos"/>
              </a:rPr>
              <a:t>07  • 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Sales Trends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60120" cy="41148"/>
          </a:xfrm>
          <a:prstGeom prst="rect">
            <a:avLst/>
          </a:prstGeom>
          <a:solidFill>
            <a:srgbClr val="45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9496" y="1517904"/>
            <a:ext cx="7104888" cy="4407408"/>
          </a:xfrm>
          <a:prstGeom prst="roundRect">
            <a:avLst>
              <a:gd name="adj" fmla="val 8000"/>
            </a:avLst>
          </a:prstGeom>
          <a:solidFill>
            <a:srgbClr val="181D28"/>
          </a:solidFill>
          <a:ln w="10160">
            <a:solidFill>
              <a:srgbClr val="2D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818120" y="1572768"/>
            <a:ext cx="3776472" cy="4297680"/>
          </a:xfrm>
          <a:prstGeom prst="roundRect">
            <a:avLst>
              <a:gd name="adj" fmla="val 8000"/>
            </a:avLst>
          </a:prstGeom>
          <a:solidFill>
            <a:srgbClr val="12161F"/>
          </a:solidFill>
          <a:ln w="10160">
            <a:solidFill>
              <a:srgbClr val="2D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38160" y="192024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Year-over-Year Growth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2432304"/>
            <a:ext cx="3172968" cy="2258568"/>
          </a:xfrm>
          <a:prstGeom prst="roundRect">
            <a:avLst>
              <a:gd name="adj" fmla="val 8000"/>
            </a:avLst>
          </a:prstGeom>
          <a:solidFill>
            <a:srgbClr val="181D28"/>
          </a:solidFill>
          <a:ln w="10160">
            <a:solidFill>
              <a:srgbClr val="2D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0" y="4828032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A3ACBC"/>
                </a:solidFill>
                <a:latin typeface="Aptos"/>
              </a:rPr>
              <a:t>2018 total sales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5120640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dirty="0">
                <a:solidFill>
                  <a:srgbClr val="F5F7FA"/>
                </a:solidFill>
                <a:latin typeface="Aptos"/>
              </a:rPr>
              <a:t>₹7.39M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7242" y="5870448"/>
            <a:ext cx="3063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dirty="0">
                <a:solidFill>
                  <a:srgbClr val="F5F7FA"/>
                </a:solidFill>
              </a:rPr>
              <a:t>2018 YoY growth: 19.99%  •  2017 growth is 12,264.55% because the 2016 base is small.</a:t>
            </a:r>
          </a:p>
          <a:p>
            <a:r>
              <a:rPr sz="1050" dirty="0">
                <a:solidFill>
                  <a:srgbClr val="A3ACBC"/>
                </a:solidFill>
              </a:rPr>
              <a:t>The 2018 rate is the more directly comparable annual change shown in the result.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3ACBC"/>
                </a:solidFill>
                <a:latin typeface="Aptos"/>
              </a:rPr>
              <a:t>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3ACBC"/>
                </a:solidFill>
                <a:latin typeface="Aptos"/>
              </a:rPr>
              <a:t>PD06  •  Python + SQL Analysis</a:t>
            </a:r>
          </a:p>
        </p:txBody>
      </p:sp>
      <p:pic>
        <p:nvPicPr>
          <p:cNvPr id="16" name="Picture 15" descr="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72768"/>
            <a:ext cx="6995160" cy="4297680"/>
          </a:xfrm>
          <a:prstGeom prst="rect">
            <a:avLst/>
          </a:prstGeom>
        </p:spPr>
      </p:pic>
      <p:pic>
        <p:nvPicPr>
          <p:cNvPr id="17" name="Picture 16" descr="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48" y="2487168"/>
            <a:ext cx="306324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AAFF"/>
                </a:solidFill>
                <a:latin typeface="Aptos"/>
              </a:rPr>
              <a:t>08  • 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High-Value Customers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60120" cy="41148"/>
          </a:xfrm>
          <a:prstGeom prst="rect">
            <a:avLst/>
          </a:prstGeom>
          <a:solidFill>
            <a:srgbClr val="45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9496" y="1517904"/>
            <a:ext cx="8339327" cy="4544568"/>
          </a:xfrm>
          <a:prstGeom prst="roundRect">
            <a:avLst>
              <a:gd name="adj" fmla="val 8000"/>
            </a:avLst>
          </a:prstGeom>
          <a:solidFill>
            <a:srgbClr val="181D28"/>
          </a:solidFill>
          <a:ln w="10160">
            <a:solidFill>
              <a:srgbClr val="2D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052560" y="1572768"/>
            <a:ext cx="2542032" cy="4434840"/>
          </a:xfrm>
          <a:prstGeom prst="roundRect">
            <a:avLst>
              <a:gd name="adj" fmla="val 8000"/>
            </a:avLst>
          </a:prstGeom>
          <a:solidFill>
            <a:srgbClr val="12161F"/>
          </a:solidFill>
          <a:ln w="10160">
            <a:solidFill>
              <a:srgbClr val="2D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0" y="193852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Ranking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2514600"/>
            <a:ext cx="1920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3ACBC"/>
                </a:solidFill>
                <a:latin typeface="Aptos"/>
              </a:rPr>
              <a:t>• Yearly customer spend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3063240"/>
            <a:ext cx="1920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3ACBC"/>
                </a:solidFill>
                <a:latin typeface="Aptos"/>
              </a:rPr>
              <a:t>• Top 3 per 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3611880"/>
            <a:ext cx="1920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3ACBC"/>
                </a:solidFill>
                <a:latin typeface="Aptos"/>
              </a:rPr>
              <a:t>• Customer IDs shortened on chart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4553712"/>
            <a:ext cx="1965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>
                <a:solidFill>
                  <a:srgbClr val="A3ACBC"/>
                </a:solidFill>
              </a:rPr>
              <a:t>The yearly ranking identifies the three highest-spending customers separately for each year. Full customer IDs remain available in the underlying analysis.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3ACBC"/>
                </a:solidFill>
                <a:latin typeface="Aptos"/>
              </a:rPr>
              <a:t>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3ACBC"/>
                </a:solidFill>
                <a:latin typeface="Aptos"/>
              </a:rPr>
              <a:t>PD06  •  Python + SQL Analysis</a:t>
            </a:r>
          </a:p>
        </p:txBody>
      </p:sp>
      <p:pic>
        <p:nvPicPr>
          <p:cNvPr id="15" name="Picture 14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72768"/>
            <a:ext cx="822960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AAFF"/>
                </a:solidFill>
                <a:latin typeface="Aptos"/>
              </a:rPr>
              <a:t>09  • 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Key Results &amp;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60120" cy="41148"/>
          </a:xfrm>
          <a:prstGeom prst="rect">
            <a:avLst/>
          </a:prstGeom>
          <a:solidFill>
            <a:srgbClr val="45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572768"/>
            <a:ext cx="6766560" cy="4434840"/>
          </a:xfrm>
          <a:prstGeom prst="roundRect">
            <a:avLst>
              <a:gd name="adj" fmla="val 8000"/>
            </a:avLst>
          </a:prstGeom>
          <a:solidFill>
            <a:srgbClr val="12161F"/>
          </a:solidFill>
          <a:ln w="10160">
            <a:solidFill>
              <a:srgbClr val="2D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90195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Aptos"/>
              </a:rPr>
              <a:t>Key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6126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3ACBC"/>
                </a:solidFill>
                <a:latin typeface="Aptos"/>
              </a:rPr>
              <a:t>• 4,119 unique customer cities were identified.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26080"/>
            <a:ext cx="6126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3ACBC"/>
                </a:solidFill>
                <a:latin typeface="Aptos"/>
              </a:rPr>
              <a:t>• 2017 recorded 45,101 orders.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364992"/>
            <a:ext cx="6126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3ACBC"/>
                </a:solidFill>
                <a:latin typeface="Aptos"/>
              </a:rPr>
              <a:t>• 51.46% of orders were paid in installments.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803904"/>
            <a:ext cx="6126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3ACBC"/>
                </a:solidFill>
                <a:latin typeface="Aptos"/>
              </a:rPr>
              <a:t>• The highest category revenue share was 9.38%.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242816"/>
            <a:ext cx="6126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3ACBC"/>
                </a:solidFill>
                <a:latin typeface="Aptos"/>
              </a:rPr>
              <a:t>• Price vs purchase frequency correlation was −0.0321.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681728"/>
            <a:ext cx="6126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3ACBC"/>
                </a:solidFill>
                <a:latin typeface="Aptos"/>
              </a:rPr>
              <a:t>• 2018 total sales reached ₹7.39M with 19.99% YoY growth.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5120640"/>
            <a:ext cx="6126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3ACBC"/>
                </a:solidFill>
                <a:latin typeface="Aptos"/>
              </a:rPr>
              <a:t>• 6-month customer retention rate was 2.32%.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572768"/>
            <a:ext cx="3959352" cy="4434840"/>
          </a:xfrm>
          <a:prstGeom prst="roundRect">
            <a:avLst>
              <a:gd name="adj" fmla="val 8000"/>
            </a:avLst>
          </a:prstGeom>
          <a:solidFill>
            <a:srgbClr val="12161F"/>
          </a:solidFill>
          <a:ln w="10160">
            <a:solidFill>
              <a:srgbClr val="2D3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79" y="190195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Aptos"/>
              </a:rPr>
              <a:t>Project deliverables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560320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3ACBC"/>
                </a:solidFill>
                <a:latin typeface="Aptos"/>
              </a:rPr>
              <a:t>• SQL analysis — Basic / Intermediate / Advanced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154680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3ACBC"/>
                </a:solidFill>
                <a:latin typeface="Aptos"/>
              </a:rPr>
              <a:t>• Google Colab Python visualizations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749039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3ACBC"/>
                </a:solidFill>
                <a:latin typeface="Aptos"/>
              </a:rPr>
              <a:t>• Portfolio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46177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AAFF"/>
                </a:solidFill>
                <a:latin typeface="Aptos"/>
              </a:rPr>
              <a:t>GitHub Repository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8920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3ACBC"/>
                </a:solidFill>
                <a:latin typeface="Aptos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54864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Suryansh Sinha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3ACBC"/>
                </a:solidFill>
                <a:latin typeface="Aptos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3ACBC"/>
                </a:solidFill>
                <a:latin typeface="Aptos"/>
              </a:rPr>
              <a:t>PD06  •  Python + SQL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613</Words>
  <Application>Microsoft Office PowerPoint</Application>
  <PresentationFormat>Widescreen</PresentationFormat>
  <Paragraphs>129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Suryansh Sinha</cp:lastModifiedBy>
  <cp:revision>2</cp:revision>
  <dcterms:created xsi:type="dcterms:W3CDTF">2013-01-27T09:14:16Z</dcterms:created>
  <dcterms:modified xsi:type="dcterms:W3CDTF">2026-09-25T14:27:35Z</dcterms:modified>
  <cp:category/>
</cp:coreProperties>
</file>